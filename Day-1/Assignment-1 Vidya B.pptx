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32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80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54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45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45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12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24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18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94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734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718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878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490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303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619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08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9B1CD1-04D6-40BC-B68F-A489CFC5C4D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84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B0B8-15CC-7328-91CB-0CEF89193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09" y="1055329"/>
            <a:ext cx="9144000" cy="2132627"/>
          </a:xfrm>
        </p:spPr>
        <p:txBody>
          <a:bodyPr>
            <a:noAutofit/>
          </a:bodyPr>
          <a:lstStyle/>
          <a:p>
            <a:pPr algn="ctr"/>
            <a:r>
              <a:rPr lang="en-IN" sz="3200" u="sng" dirty="0">
                <a:solidFill>
                  <a:schemeClr val="bg1"/>
                </a:solidFill>
                <a:latin typeface="+mn-lt"/>
              </a:rPr>
              <a:t>Assignment – 1</a:t>
            </a:r>
            <a:br>
              <a:rPr lang="en-IN" sz="3600" u="sng" dirty="0">
                <a:solidFill>
                  <a:schemeClr val="bg1"/>
                </a:solidFill>
                <a:latin typeface="+mn-lt"/>
              </a:rPr>
            </a:br>
            <a:br>
              <a:rPr lang="en-IN" sz="3600" dirty="0">
                <a:solidFill>
                  <a:schemeClr val="bg1"/>
                </a:solidFill>
                <a:latin typeface="+mn-lt"/>
              </a:rPr>
            </a:br>
            <a:r>
              <a:rPr lang="en-US" sz="3600" b="1" dirty="0">
                <a:solidFill>
                  <a:schemeClr val="bg1"/>
                </a:solidFill>
                <a:latin typeface="+mn-lt"/>
              </a:rPr>
              <a:t>BOOTING PROCESS OF MODERN OPERATING SYSTEMS</a:t>
            </a:r>
            <a:endParaRPr lang="en-IN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0950C-8118-75FA-3869-6BD88FEF5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8585"/>
            <a:ext cx="9901084" cy="1949091"/>
          </a:xfrm>
        </p:spPr>
        <p:txBody>
          <a:bodyPr>
            <a:normAutofit/>
          </a:bodyPr>
          <a:lstStyle/>
          <a:p>
            <a:r>
              <a:rPr lang="en-IN" sz="2000" b="1" dirty="0"/>
              <a:t>              By</a:t>
            </a:r>
          </a:p>
          <a:p>
            <a:r>
              <a:rPr lang="en-IN" sz="2000" b="1" cap="none" dirty="0"/>
              <a:t>Vidya V Bhandinavar</a:t>
            </a:r>
          </a:p>
          <a:p>
            <a:r>
              <a:rPr lang="en-IN" sz="2000" b="1" cap="none" dirty="0"/>
              <a:t>VTU College Belagavi</a:t>
            </a:r>
          </a:p>
        </p:txBody>
      </p:sp>
    </p:spTree>
    <p:extLst>
      <p:ext uri="{BB962C8B-B14F-4D97-AF65-F5344CB8AC3E}">
        <p14:creationId xmlns:p14="http://schemas.microsoft.com/office/powerpoint/2010/main" val="376143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19B2-5204-72C0-0FA7-230F8F34A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092" y="1249242"/>
            <a:ext cx="10734973" cy="1739764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Booting 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sequence of steps that a computer or mobile device follows to start the operating system when it is powered on.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35406-19D9-5680-51D5-182A60ED2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247" y="3130170"/>
            <a:ext cx="8825658" cy="2657168"/>
          </a:xfrm>
        </p:spPr>
        <p:txBody>
          <a:bodyPr>
            <a:normAutofit/>
          </a:bodyPr>
          <a:lstStyle/>
          <a:p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Booting Process are: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5D5F6-22AB-42DC-9CA4-56BACB1FC12D}"/>
              </a:ext>
            </a:extLst>
          </p:cNvPr>
          <p:cNvSpPr txBox="1"/>
          <p:nvPr/>
        </p:nvSpPr>
        <p:spPr>
          <a:xfrm>
            <a:off x="867092" y="1070662"/>
            <a:ext cx="770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BOOTING PROCESS ?</a:t>
            </a:r>
          </a:p>
        </p:txBody>
      </p:sp>
    </p:spTree>
    <p:extLst>
      <p:ext uri="{BB962C8B-B14F-4D97-AF65-F5344CB8AC3E}">
        <p14:creationId xmlns:p14="http://schemas.microsoft.com/office/powerpoint/2010/main" val="193611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4EB5-1ADD-821F-B6BE-895CA85FD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654943"/>
            <a:ext cx="8928561" cy="751070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Linux Booting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3D35E-18B2-5F20-58BF-9BB3BB18E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838631"/>
            <a:ext cx="10373031" cy="4218040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What happens when we power on a Linux system?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indent="-11430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Linux System Is Powered On, It Follows A Structured Sequence To Initialize Hardware, Load The Operating System, And Prepare The User Environment.</a:t>
            </a:r>
          </a:p>
          <a:p>
            <a:pPr marL="1143000" indent="-114300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Flow: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→ BIOS/UEFI → GRUB → Kernel →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Login Screen</a:t>
            </a:r>
          </a:p>
          <a:p>
            <a:pPr marL="1143000" indent="-1143000"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Booting Is Modular And Transparent, Making It Easy To Customize And Troubleshoot.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19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A10F-EE85-1F1A-CB19-D32572D9B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465" y="487242"/>
            <a:ext cx="8825658" cy="967932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BIOS/UEFI and GRUB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0AD31-A21D-174F-C53F-BFA36AE58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465" y="1571519"/>
            <a:ext cx="10152142" cy="4995884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BIOS / UEFI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POST (Power-on Self Test)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CPU, RAM, Storage Devices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Bootable Device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GRUB (Bootloader)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The Linux Kernel Into RAM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Initramfs (Temporary File System)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Selecting Different OS Or Recovery Mode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GRUB Acts As A Bridge Between Firmware And The Operating System</a:t>
            </a: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0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FD70-018E-EACD-169B-CA31AF458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297" y="705737"/>
            <a:ext cx="8825658" cy="670779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Initialization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783BD-D321-4BB5-D424-9C3057D88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6297" y="1926026"/>
            <a:ext cx="9719522" cy="347188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Linux Kernel Is The Core Of The OS.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Detection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Setup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Initialization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Mounting The Root File System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Prepares The System For User-level Processes.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06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4D50-ACA0-7B3D-A973-E41FED414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477" y="880535"/>
            <a:ext cx="8825658" cy="677329"/>
          </a:xfrm>
        </p:spPr>
        <p:txBody>
          <a:bodyPr/>
          <a:lstStyle/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Login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CE25E-15A5-A520-888E-931B74742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303" y="1837534"/>
            <a:ext cx="9729355" cy="435678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User-space Process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Background Services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Mounts File Systems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Networking And Display Manager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Screen Appears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Session Begins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GRUB + </a:t>
            </a:r>
            <a:r>
              <a:rPr lang="en-US" sz="2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97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E514-DB48-0B82-A002-62C970B5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812" y="713385"/>
            <a:ext cx="8825658" cy="761454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Windows Booting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DD74F-F417-A431-4688-46C45760A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136" y="1798205"/>
            <a:ext cx="10161974" cy="4022492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Booting Is Structured And Security-focused.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BootFlow</a:t>
            </a: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→ UEFI → Boot Manager → winload.exe → Kernel →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Winlogon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Desktop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Uses Boot Configuration Data (BCD) To Manage Startup Options.</a:t>
            </a:r>
          </a:p>
        </p:txBody>
      </p:sp>
    </p:spTree>
    <p:extLst>
      <p:ext uri="{BB962C8B-B14F-4D97-AF65-F5344CB8AC3E}">
        <p14:creationId xmlns:p14="http://schemas.microsoft.com/office/powerpoint/2010/main" val="7592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8916-5BB5-A3A0-772F-5260ECC95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09" y="601677"/>
            <a:ext cx="8825658" cy="617523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Manager and BCD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486C9-D6F3-D52F-F9EA-9BA5C7EC3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09" y="1463907"/>
            <a:ext cx="8825658" cy="46222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Boot Manager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bootmgr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Loaded By UEFI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Boot Configuration Data (BCD)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Advanced Boot Options If Needed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Entries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Mode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Options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71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C5ED-5AC4-C60F-59FB-42C6D906D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645" y="546236"/>
            <a:ext cx="8825658" cy="86142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Loading Phase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2E7AE-73BF-0887-6B44-77874EB86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645" y="1640888"/>
            <a:ext cx="8825658" cy="403232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Winload.Exe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Windows Kernel (</a:t>
            </a:r>
            <a:r>
              <a:rPr lang="en-IN" sz="20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Ntoskrnl.Exe</a:t>
            </a: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Hardware Abstraction Layer (HAL)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Essential Drivers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SYSTEM Registry Hive</a:t>
            </a:r>
          </a:p>
          <a:p>
            <a:pPr lvl="1" algn="l"/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Initializes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36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74B1-9289-39C6-EC23-3EBCCA253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8981" y="582834"/>
            <a:ext cx="8825658" cy="682796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Desktop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F4535-A230-5C07-9CC3-632583EF3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981" y="1463908"/>
            <a:ext cx="9867006" cy="439611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(smss.exe):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system session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Winlogon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login screen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authentication</a:t>
            </a:r>
          </a:p>
          <a:p>
            <a:pPr lvl="1" algn="l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.exe: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desktop and taskbar</a:t>
            </a:r>
          </a:p>
          <a:p>
            <a:pPr lvl="1" algn="l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bootmgr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ntoskrnl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winlogon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19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9266-0ADD-CC5E-E06A-58306FFF3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490" y="720486"/>
            <a:ext cx="8825658" cy="56754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macOS Booting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A328A-74CD-3582-BB1B-5B40EFEE5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812" y="1710813"/>
            <a:ext cx="10506103" cy="4640826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macOS Is Built On The Darwin Operating System And Uses The XNU Hybrid Kernel.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→ Boot ROM →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boot.efi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XNU Kernel →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Login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Emphasizes Security And System Integrity.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4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3AC6E-6DC8-7FA7-0DDF-E7FA216AC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33" y="745066"/>
            <a:ext cx="8825658" cy="601953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ROM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boot.efi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2E81A-041D-7AF7-48B8-56B4E93C5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758876"/>
            <a:ext cx="8825658" cy="435405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ROM: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Hardware Check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Verifies System Integrity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Implements Secure Boot</a:t>
            </a:r>
          </a:p>
          <a:p>
            <a:endParaRPr lang="en-IN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boot.efi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XNU Kernel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Prepares System For Kernel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0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0D3E-07A0-00DF-5029-8A0969678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968" y="890365"/>
            <a:ext cx="8825658" cy="456654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XNU Kernel Initialization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978F1-93DB-5E20-3C91-006CFADD2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6968" y="1729380"/>
            <a:ext cx="9984993" cy="423825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XNU </a:t>
            </a: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Kernel (Mach + BSD + I/O Kit)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Initializes Hardware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Mounts Root File System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Prepares System 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64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FFB1-0FE9-8229-3F62-6B0B99FDC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71" y="754899"/>
            <a:ext cx="8825658" cy="670778"/>
          </a:xfrm>
        </p:spPr>
        <p:txBody>
          <a:bodyPr/>
          <a:lstStyle/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User Login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06BA4-B182-D616-C72A-3765D6B12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470" y="1837533"/>
            <a:ext cx="10427445" cy="38553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system services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background processes</a:t>
            </a:r>
          </a:p>
          <a:p>
            <a:pPr lvl="1" algn="l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loginwindow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login interface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authentication, Finder loads</a:t>
            </a:r>
          </a:p>
          <a:p>
            <a:pPr lvl="1" algn="l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boot.efi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XNU +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52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7A9CD-9749-C1FF-A741-0450A2D6A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51" y="656577"/>
            <a:ext cx="8825658" cy="55279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Android Booting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B24A9-DA5F-5636-0955-4FD7EDBE7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651" y="1483573"/>
            <a:ext cx="8825658" cy="458292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Is Built On A Modified Linux Kernel.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→ Boot ROM → Bootloader → Linux Kernel →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Zygote → Launcher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Boot Focuses On Speed And Security.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91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B413-13DD-11BD-4173-99624C3E6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483" y="890366"/>
            <a:ext cx="10260297" cy="604137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ROM and Bootloader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24AC5-F117-3D61-C2FE-93E386DFF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639" y="1867032"/>
            <a:ext cx="8825658" cy="392416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ROM: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In Chipset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Executes First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Bootloader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Bootloader: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Verifies Digital Signatures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Recovery And </a:t>
            </a:r>
            <a:r>
              <a:rPr lang="en-US" sz="18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Fastboot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Kernel And </a:t>
            </a:r>
            <a:r>
              <a:rPr lang="en-US" sz="18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Ramdisk</a:t>
            </a:r>
            <a:endParaRPr lang="en-US" sz="18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041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49F8-EEAC-3AD6-A73D-601B16BD7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329" y="853222"/>
            <a:ext cx="8825658" cy="483966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and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33AD3-F67E-1A33-D95E-D04E387DD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329" y="1650722"/>
            <a:ext cx="9729354" cy="415031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Kernel: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Initializes Hardware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Mounts Root File System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Init Process</a:t>
            </a:r>
          </a:p>
          <a:p>
            <a:endParaRPr lang="en-IN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Configuration Files (</a:t>
            </a:r>
            <a:r>
              <a:rPr lang="en-IN" sz="18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Init.Rc</a:t>
            </a: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System 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751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E4F3-50C1-C0C3-3E13-51CE4C0E5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503" y="653846"/>
            <a:ext cx="10240632" cy="430710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Zygote and System Startup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991D0-CCBD-5AC4-18C6-ECD2BF8B0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503" y="1375417"/>
            <a:ext cx="10456942" cy="4828737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Zygote: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Preloads Common Libraries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Forks To Create Application Processes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Speeds Up App Launching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Server: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Activity Manager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Package Manager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Home Screen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Bootloader + Zygote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93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3539-CED0-0F56-29D7-4C7F6D6452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2955" y="383920"/>
            <a:ext cx="9620250" cy="706437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Boot Processes in Different Operating Systems</a:t>
            </a:r>
            <a:endParaRPr lang="en-IN" sz="28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C939C5-F770-4EE5-96A8-332430644C9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27429163"/>
              </p:ext>
            </p:extLst>
          </p:nvPr>
        </p:nvGraphicFramePr>
        <p:xfrm>
          <a:off x="540774" y="1386347"/>
          <a:ext cx="10402740" cy="5048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8276">
                  <a:extLst>
                    <a:ext uri="{9D8B030D-6E8A-4147-A177-3AD203B41FA5}">
                      <a16:colId xmlns:a16="http://schemas.microsoft.com/office/drawing/2014/main" val="1812384363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870111994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323268511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844559694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1054240331"/>
                    </a:ext>
                  </a:extLst>
                </a:gridCol>
              </a:tblGrid>
              <a:tr h="67739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9721155"/>
                  </a:ext>
                </a:extLst>
              </a:tr>
              <a:tr h="77536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Firmware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BIOS / UEFI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UEFI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 ROM / UEFI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 ROM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2965974"/>
                  </a:ext>
                </a:extLst>
              </a:tr>
              <a:tr h="6778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Bootloader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GRUB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bootmgr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boot.efi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Bootloader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6996881"/>
                  </a:ext>
                </a:extLst>
              </a:tr>
              <a:tr h="6715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Kernel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 Kernel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ntoskrnl.exe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XNU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 Kernel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8857793"/>
                  </a:ext>
                </a:extLst>
              </a:tr>
              <a:tr h="83574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Process (PID 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smss.exe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launchd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7219"/>
                  </a:ext>
                </a:extLst>
              </a:tr>
              <a:tr h="73256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Component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initramfs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Boot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Zygote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2032876"/>
                  </a:ext>
                </a:extLst>
              </a:tr>
              <a:tr h="6778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Stage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Screen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Desktop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Finder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Launcher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548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462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usinesswoman holding sign smiling">
            <a:extLst>
              <a:ext uri="{FF2B5EF4-FFF2-40B4-BE49-F238E27FC236}">
                <a16:creationId xmlns:a16="http://schemas.microsoft.com/office/drawing/2014/main" id="{F4160E25-EFFB-D29B-7331-69A2E8A4D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65" y="786186"/>
            <a:ext cx="4501899" cy="5285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B0C901-1EAF-D336-BE36-8A7ADC469403}"/>
              </a:ext>
            </a:extLst>
          </p:cNvPr>
          <p:cNvSpPr txBox="1"/>
          <p:nvPr/>
        </p:nvSpPr>
        <p:spPr>
          <a:xfrm>
            <a:off x="2074606" y="2300748"/>
            <a:ext cx="2408903" cy="52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+mj-lt"/>
              </a:rPr>
              <a:t>THANK YOU</a:t>
            </a:r>
          </a:p>
        </p:txBody>
      </p:sp>
      <p:pic>
        <p:nvPicPr>
          <p:cNvPr id="8" name="Graphic 7" descr="Angel face outline with solid fill">
            <a:extLst>
              <a:ext uri="{FF2B5EF4-FFF2-40B4-BE49-F238E27FC236}">
                <a16:creationId xmlns:a16="http://schemas.microsoft.com/office/drawing/2014/main" id="{549EC3FF-1FD6-57B6-456E-4990580CD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2787" y="230074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71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120</TotalTime>
  <Words>752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Century Gothic</vt:lpstr>
      <vt:lpstr>Times New Roman</vt:lpstr>
      <vt:lpstr>Wingdings</vt:lpstr>
      <vt:lpstr>Wingdings 3</vt:lpstr>
      <vt:lpstr>Ion Boardroom</vt:lpstr>
      <vt:lpstr>Assignment – 1  BOOTING PROCESS OF MODERN OPERATING SYSTEMS</vt:lpstr>
      <vt:lpstr>Booting process is the sequence of steps that a computer or mobile device follows to start the operating system when it is powered on.  </vt:lpstr>
      <vt:lpstr>1. Linux Booting</vt:lpstr>
      <vt:lpstr>BIOS/UEFI and GRUB</vt:lpstr>
      <vt:lpstr>Kernel Initialization</vt:lpstr>
      <vt:lpstr>systemd and Login</vt:lpstr>
      <vt:lpstr>2. Windows Booting</vt:lpstr>
      <vt:lpstr>Boot Manager and BCD</vt:lpstr>
      <vt:lpstr>Kernel Loading Phase</vt:lpstr>
      <vt:lpstr>Login and Desktop</vt:lpstr>
      <vt:lpstr>3. macOS Booting</vt:lpstr>
      <vt:lpstr>Boot ROM and boot.efi</vt:lpstr>
      <vt:lpstr>XNU Kernel Initialization</vt:lpstr>
      <vt:lpstr>launchd and User Login</vt:lpstr>
      <vt:lpstr>4. Android Booting</vt:lpstr>
      <vt:lpstr>Boot ROM and Bootloader</vt:lpstr>
      <vt:lpstr>Kernel and init Process</vt:lpstr>
      <vt:lpstr>Zygote and System Startup</vt:lpstr>
      <vt:lpstr>Comparison of Boot Processes in Different Operating Systems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Vidya Bhandinavar</dc:creator>
  <cp:lastModifiedBy>Vidya Bhandinavar</cp:lastModifiedBy>
  <cp:revision>6</cp:revision>
  <dcterms:created xsi:type="dcterms:W3CDTF">2026-02-11T16:45:18Z</dcterms:created>
  <dcterms:modified xsi:type="dcterms:W3CDTF">2026-02-12T05:59:31Z</dcterms:modified>
</cp:coreProperties>
</file>
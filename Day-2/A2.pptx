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7114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58647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287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425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2641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958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514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237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73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692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02753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273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5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082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68830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15686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015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79B1CD1-04D6-40BC-B68F-A489CFC5C4DE}" type="datetimeFigureOut">
              <a:rPr lang="en-IN" smtClean="0"/>
              <a:t>13-02-2026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45479D16-215B-4601-9DDC-CA1C6AA059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957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1B0B8-15CC-7328-91CB-0CEF89193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509" y="1055329"/>
            <a:ext cx="9144000" cy="2132627"/>
          </a:xfrm>
        </p:spPr>
        <p:txBody>
          <a:bodyPr>
            <a:noAutofit/>
          </a:bodyPr>
          <a:lstStyle/>
          <a:p>
            <a:pPr algn="ctr"/>
            <a:r>
              <a:rPr lang="en-IN" sz="3200" u="sng" dirty="0">
                <a:solidFill>
                  <a:schemeClr val="bg1"/>
                </a:solidFill>
                <a:latin typeface="+mn-lt"/>
              </a:rPr>
              <a:t>Assignment – 2</a:t>
            </a:r>
            <a:br>
              <a:rPr lang="en-IN" sz="3600" u="sng" dirty="0">
                <a:solidFill>
                  <a:schemeClr val="bg1"/>
                </a:solidFill>
                <a:latin typeface="+mn-lt"/>
              </a:rPr>
            </a:br>
            <a:br>
              <a:rPr lang="en-IN" sz="3600" dirty="0">
                <a:solidFill>
                  <a:schemeClr val="bg1"/>
                </a:solidFill>
                <a:latin typeface="+mn-lt"/>
              </a:rPr>
            </a:br>
            <a:r>
              <a:rPr lang="en-US" sz="3600" b="1" dirty="0"/>
              <a:t>BASIC COMPUTER FUNDAMENTALS , OS , CLIENT &amp; SERVER SYSTEMS</a:t>
            </a:r>
            <a:endParaRPr lang="en-IN" sz="36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90950C-8118-75FA-3869-6BD88FEF51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48585"/>
            <a:ext cx="9901084" cy="1949091"/>
          </a:xfrm>
        </p:spPr>
        <p:txBody>
          <a:bodyPr>
            <a:normAutofit/>
          </a:bodyPr>
          <a:lstStyle/>
          <a:p>
            <a:r>
              <a:rPr lang="en-IN" sz="2000" b="1" dirty="0"/>
              <a:t>              By</a:t>
            </a:r>
          </a:p>
          <a:p>
            <a:r>
              <a:rPr lang="en-IN" sz="2000" b="1" cap="none" dirty="0"/>
              <a:t>Vidya V Bhandinavar</a:t>
            </a:r>
          </a:p>
          <a:p>
            <a:r>
              <a:rPr lang="en-IN" sz="2000" b="1" cap="none" dirty="0"/>
              <a:t>VTU College Belagavi</a:t>
            </a:r>
          </a:p>
        </p:txBody>
      </p:sp>
    </p:spTree>
    <p:extLst>
      <p:ext uri="{BB962C8B-B14F-4D97-AF65-F5344CB8AC3E}">
        <p14:creationId xmlns:p14="http://schemas.microsoft.com/office/powerpoint/2010/main" val="3761433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F19B2-5204-72C0-0FA7-230F8F34AD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37" y="1092001"/>
            <a:ext cx="10734973" cy="1299423"/>
          </a:xfrm>
        </p:spPr>
        <p:txBody>
          <a:bodyPr/>
          <a:lstStyle/>
          <a:p>
            <a:r>
              <a:rPr lang="en-US" sz="2000" b="1" dirty="0"/>
              <a:t>Hardware</a:t>
            </a:r>
            <a:r>
              <a:rPr lang="en-US" sz="2000" dirty="0"/>
              <a:t> refers to the </a:t>
            </a:r>
            <a:r>
              <a:rPr lang="en-US" sz="2000" b="1" dirty="0"/>
              <a:t>physical and tangible components</a:t>
            </a:r>
            <a:r>
              <a:rPr lang="en-US" sz="2000" dirty="0"/>
              <a:t> of a computer system.</a:t>
            </a:r>
            <a:br>
              <a:rPr lang="en-US" sz="2000" dirty="0"/>
            </a:br>
            <a:r>
              <a:rPr lang="en-US" sz="2000" dirty="0"/>
              <a:t>Hardware performs operations based on software instructions.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435406-19D9-5680-51D5-182A60ED2D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37" y="2169242"/>
            <a:ext cx="10223695" cy="2657168"/>
          </a:xfrm>
        </p:spPr>
        <p:txBody>
          <a:bodyPr>
            <a:noAutofit/>
          </a:bodyPr>
          <a:lstStyle/>
          <a:p>
            <a:r>
              <a:rPr lang="en-IN" b="1" cap="none" dirty="0">
                <a:solidFill>
                  <a:srgbClr val="92D050"/>
                </a:solidFill>
              </a:rPr>
              <a:t>Major Hardware Components: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Input Devices</a:t>
            </a:r>
            <a:r>
              <a:rPr lang="en-IN" cap="none" dirty="0">
                <a:solidFill>
                  <a:schemeClr val="bg1"/>
                </a:solidFill>
              </a:rPr>
              <a:t> – Keyboard, Mouse, Scanner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Output Devices</a:t>
            </a:r>
            <a:r>
              <a:rPr lang="en-IN" cap="none" dirty="0">
                <a:solidFill>
                  <a:schemeClr val="bg1"/>
                </a:solidFill>
              </a:rPr>
              <a:t> – Monitor, Printer, Speaker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CPU (Central Processing Unit)</a:t>
            </a:r>
            <a:endParaRPr lang="en-IN" cap="none" dirty="0">
              <a:solidFill>
                <a:schemeClr val="bg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ALU (Arithmetic Logic Unit)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CU (Control Unit)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Memory Devices</a:t>
            </a:r>
            <a:endParaRPr lang="en-IN" cap="none" dirty="0">
              <a:solidFill>
                <a:schemeClr val="bg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Primary (RAM, ROM)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Secondary (HDD, SSD)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Motherboard &amp; Power Supply</a:t>
            </a:r>
            <a:endParaRPr lang="en-IN" cap="none" dirty="0">
              <a:solidFill>
                <a:schemeClr val="bg1"/>
              </a:solidFill>
            </a:endParaRPr>
          </a:p>
          <a:p>
            <a:endParaRPr lang="en-IN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65D5F6-22AB-42DC-9CA4-56BACB1FC12D}"/>
              </a:ext>
            </a:extLst>
          </p:cNvPr>
          <p:cNvSpPr txBox="1"/>
          <p:nvPr/>
        </p:nvSpPr>
        <p:spPr>
          <a:xfrm>
            <a:off x="698090" y="712404"/>
            <a:ext cx="7708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What is Hardware and Software </a:t>
            </a:r>
            <a:r>
              <a:rPr lang="en-IN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9361183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C4EB5-1ADD-821F-B6BE-895CA85FD9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507458"/>
            <a:ext cx="8928561" cy="751070"/>
          </a:xfrm>
        </p:spPr>
        <p:txBody>
          <a:bodyPr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of programs and instructions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control hardware.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C3D35E-18B2-5F20-58BF-9BB3BB18E6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484" y="1319980"/>
            <a:ext cx="10373031" cy="4218040"/>
          </a:xfrm>
        </p:spPr>
        <p:txBody>
          <a:bodyPr>
            <a:noAutofit/>
          </a:bodyPr>
          <a:lstStyle/>
          <a:p>
            <a:r>
              <a:rPr lang="en-IN" b="1" cap="none" dirty="0">
                <a:solidFill>
                  <a:srgbClr val="92D050"/>
                </a:solidFill>
              </a:rPr>
              <a:t>Types Of Software: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System Software</a:t>
            </a:r>
            <a:endParaRPr lang="en-IN" cap="none" dirty="0">
              <a:solidFill>
                <a:schemeClr val="bg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Operating System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Device Drivers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Compiler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Application Software</a:t>
            </a:r>
            <a:endParaRPr lang="en-IN" cap="none" dirty="0">
              <a:solidFill>
                <a:schemeClr val="bg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MS Office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Browser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Games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b="1" cap="none" dirty="0">
                <a:solidFill>
                  <a:schemeClr val="bg1"/>
                </a:solidFill>
              </a:rPr>
              <a:t>Utility Software</a:t>
            </a:r>
            <a:endParaRPr lang="en-IN" cap="none" dirty="0">
              <a:solidFill>
                <a:schemeClr val="bg1"/>
              </a:solidFill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Antivirus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</a:rPr>
              <a:t>Backup Tools</a:t>
            </a:r>
          </a:p>
        </p:txBody>
      </p:sp>
    </p:spTree>
    <p:extLst>
      <p:ext uri="{BB962C8B-B14F-4D97-AF65-F5344CB8AC3E}">
        <p14:creationId xmlns:p14="http://schemas.microsoft.com/office/powerpoint/2010/main" val="1662191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B1BD4BB-5635-1152-0852-A05AC4493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18648"/>
              </p:ext>
            </p:extLst>
          </p:nvPr>
        </p:nvGraphicFramePr>
        <p:xfrm>
          <a:off x="1386348" y="1170863"/>
          <a:ext cx="8927692" cy="4516274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424517">
                  <a:extLst>
                    <a:ext uri="{9D8B030D-6E8A-4147-A177-3AD203B41FA5}">
                      <a16:colId xmlns:a16="http://schemas.microsoft.com/office/drawing/2014/main" val="275667659"/>
                    </a:ext>
                  </a:extLst>
                </a:gridCol>
                <a:gridCol w="4503175">
                  <a:extLst>
                    <a:ext uri="{9D8B030D-6E8A-4147-A177-3AD203B41FA5}">
                      <a16:colId xmlns:a16="http://schemas.microsoft.com/office/drawing/2014/main" val="1104361737"/>
                    </a:ext>
                  </a:extLst>
                </a:gridCol>
              </a:tblGrid>
              <a:tr h="9027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Hardware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Software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3739628"/>
                  </a:ext>
                </a:extLst>
              </a:tr>
              <a:tr h="9033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Physical components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Programs &amp; instructions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72053789"/>
                  </a:ext>
                </a:extLst>
              </a:tr>
              <a:tr h="9033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Can be touched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Cannot be touched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6968995"/>
                  </a:ext>
                </a:extLst>
              </a:tr>
              <a:tr h="9033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Needs software to work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Needs hardware to run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0381188"/>
                  </a:ext>
                </a:extLst>
              </a:tr>
              <a:tr h="9033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Example: CPU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>
                          <a:effectLst/>
                        </a:rPr>
                        <a:t>Example: Windows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670482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9506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CFD70-018E-EACD-169B-CA31AF458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0155" y="705737"/>
            <a:ext cx="8825658" cy="670779"/>
          </a:xfrm>
        </p:spPr>
        <p:txBody>
          <a:bodyPr/>
          <a:lstStyle/>
          <a:p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What is Operating System (OS) and Its Types ?</a:t>
            </a:r>
            <a:endParaRPr lang="en-IN" sz="28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5783BD-D321-4BB5-D424-9C3057D88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7975" y="1532735"/>
            <a:ext cx="9719522" cy="3471884"/>
          </a:xfrm>
        </p:spPr>
        <p:txBody>
          <a:bodyPr>
            <a:normAutofit/>
          </a:bodyPr>
          <a:lstStyle/>
          <a:p>
            <a:r>
              <a:rPr lang="en-US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System Software That Manages Computer Hardware And Software Resources.</a:t>
            </a:r>
          </a:p>
          <a:p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Is The Core Part Of OS.</a:t>
            </a:r>
          </a:p>
          <a:p>
            <a:endParaRPr lang="en-US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Acts As: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Interface Between User &amp; Hardware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Manager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 Program</a:t>
            </a:r>
          </a:p>
        </p:txBody>
      </p:sp>
    </p:spTree>
    <p:extLst>
      <p:ext uri="{BB962C8B-B14F-4D97-AF65-F5344CB8AC3E}">
        <p14:creationId xmlns:p14="http://schemas.microsoft.com/office/powerpoint/2010/main" val="401906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A4D50-ACA0-7B3D-A973-E41FED414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477" y="1018186"/>
            <a:ext cx="8825658" cy="677329"/>
          </a:xfrm>
        </p:spPr>
        <p:txBody>
          <a:bodyPr/>
          <a:lstStyle/>
          <a:p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Functions of Operating System</a:t>
            </a:r>
            <a:b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CCE25E-15A5-A520-888E-931B747429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8477" y="1356850"/>
            <a:ext cx="9729355" cy="4356788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Scheduling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Multitasking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Allocation &amp; Deallocation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Organizes Files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Drivers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Management</a:t>
            </a:r>
            <a:endParaRPr lang="en-US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Authorization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974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E514-DB48-0B82-A002-62C970B59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812" y="713385"/>
            <a:ext cx="8825658" cy="761454"/>
          </a:xfrm>
        </p:spPr>
        <p:txBody>
          <a:bodyPr/>
          <a:lstStyle/>
          <a:p>
            <a:r>
              <a:rPr lang="en-IN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Operating Systems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DD74F-F417-A431-4688-46C45760A7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7136" y="1798205"/>
            <a:ext cx="10161974" cy="4022492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Processing: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 Sharing 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OS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Users: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User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User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 Windows, Linux, </a:t>
            </a:r>
            <a:r>
              <a:rPr lang="en-US" sz="20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Macos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Android</a:t>
            </a:r>
          </a:p>
          <a:p>
            <a:pPr algn="just">
              <a:lnSpc>
                <a:spcPct val="150000"/>
              </a:lnSpc>
            </a:pP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9256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48916-5BB5-A3A0-772F-5260ECC959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8309" y="601677"/>
            <a:ext cx="8825658" cy="617523"/>
          </a:xfrm>
        </p:spPr>
        <p:txBody>
          <a:bodyPr/>
          <a:lstStyle/>
          <a:p>
            <a:r>
              <a:rPr lang="en-IN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Categories of Operating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E486C9-D6F3-D52F-F9EA-9BA5C7EC3F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8309" y="1117870"/>
            <a:ext cx="10555265" cy="4622260"/>
          </a:xfrm>
        </p:spPr>
        <p:txBody>
          <a:bodyPr numCol="3">
            <a:noAutofit/>
          </a:bodyPr>
          <a:lstStyle/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Users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User Single Task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MS-DOS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Single User Multi Task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Windows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 User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Linux</a:t>
            </a: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Task Handling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Processing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Multiprogramming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Multitasking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Multiprocessing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Based On System Architecture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OS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Manages Network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Distributed OS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Multiple Systems As One</a:t>
            </a: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OS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Immediate Response Systems</a:t>
            </a: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714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1C5ED-5AC4-C60F-59FB-42C6D906D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8645" y="546236"/>
            <a:ext cx="8825658" cy="861420"/>
          </a:xfrm>
        </p:spPr>
        <p:txBody>
          <a:bodyPr/>
          <a:lstStyle/>
          <a:p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What is Client OS and Server OS?</a:t>
            </a:r>
            <a:endParaRPr lang="en-IN" sz="28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32E7AE-73BF-0887-6B44-77874EB86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645" y="1640888"/>
            <a:ext cx="8825658" cy="4504273"/>
          </a:xfrm>
        </p:spPr>
        <p:txBody>
          <a:bodyPr>
            <a:normAutofit/>
          </a:bodyPr>
          <a:lstStyle/>
          <a:p>
            <a:r>
              <a:rPr lang="en-IN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Operating System is </a:t>
            </a: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Personal Computer Users.</a:t>
            </a: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Limited Simultaneous Users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Multimedia Support</a:t>
            </a: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cap="none" dirty="0" err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r>
              <a:rPr lang="en-IN" sz="20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10/11,Ubuntu </a:t>
            </a:r>
            <a:r>
              <a:rPr lang="en-IN" sz="2000" cap="none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Desktop,Macos</a:t>
            </a:r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367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6CF4535-A230-5C07-9CC3-632583EF3D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8981" y="1265630"/>
            <a:ext cx="9867006" cy="4396117"/>
          </a:xfrm>
        </p:spPr>
        <p:txBody>
          <a:bodyPr/>
          <a:lstStyle/>
          <a:p>
            <a:r>
              <a:rPr lang="en-US" sz="20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Operating System Is </a:t>
            </a: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To Manage Network Resources And Provide Services.</a:t>
            </a:r>
          </a:p>
          <a:p>
            <a:endParaRPr lang="en-US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Multi-user Support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 Security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Sharing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Web Hosting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71920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CA328A-74CD-3582-BB1B-5B40EFEE5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3917" y="1369554"/>
            <a:ext cx="9084165" cy="4225001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2B0ECB0-3D22-FCC4-7DE6-9BE6FEC39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711946"/>
              </p:ext>
            </p:extLst>
          </p:nvPr>
        </p:nvGraphicFramePr>
        <p:xfrm>
          <a:off x="1553918" y="1369554"/>
          <a:ext cx="9084164" cy="411889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542082">
                  <a:extLst>
                    <a:ext uri="{9D8B030D-6E8A-4147-A177-3AD203B41FA5}">
                      <a16:colId xmlns:a16="http://schemas.microsoft.com/office/drawing/2014/main" val="28089183"/>
                    </a:ext>
                  </a:extLst>
                </a:gridCol>
                <a:gridCol w="4542082">
                  <a:extLst>
                    <a:ext uri="{9D8B030D-6E8A-4147-A177-3AD203B41FA5}">
                      <a16:colId xmlns:a16="http://schemas.microsoft.com/office/drawing/2014/main" val="1749479349"/>
                    </a:ext>
                  </a:extLst>
                </a:gridCol>
              </a:tblGrid>
              <a:tr h="82330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Hardware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0" dirty="0">
                          <a:effectLst/>
                        </a:rPr>
                        <a:t>Software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7848801"/>
                  </a:ext>
                </a:extLst>
              </a:tr>
              <a:tr h="823897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>
                          <a:effectLst/>
                        </a:rPr>
                        <a:t>Physical components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>
                          <a:effectLst/>
                        </a:rPr>
                        <a:t>Programs &amp; instructions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28425271"/>
                  </a:ext>
                </a:extLst>
              </a:tr>
              <a:tr h="823897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>
                          <a:effectLst/>
                        </a:rPr>
                        <a:t>Can be touched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>
                          <a:effectLst/>
                        </a:rPr>
                        <a:t>Cannot be touched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20139"/>
                  </a:ext>
                </a:extLst>
              </a:tr>
              <a:tr h="823897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>
                          <a:effectLst/>
                        </a:rPr>
                        <a:t>Needs software to work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>
                          <a:effectLst/>
                        </a:rPr>
                        <a:t>Needs hardware to run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5103628"/>
                  </a:ext>
                </a:extLst>
              </a:tr>
              <a:tr h="823897"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>
                          <a:effectLst/>
                        </a:rPr>
                        <a:t>Example: CPU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 algn="l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000" dirty="0">
                          <a:effectLst/>
                        </a:rPr>
                        <a:t>Example: Windows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968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746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3AC6E-6DC8-7FA7-0DDF-E7FA216AC4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8814" y="597583"/>
            <a:ext cx="8825658" cy="1013810"/>
          </a:xfrm>
        </p:spPr>
        <p:txBody>
          <a:bodyPr/>
          <a:lstStyle/>
          <a:p>
            <a:r>
              <a:rPr lang="en-IN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 OS Versions of Linux (Red Hat System) ?</a:t>
            </a:r>
            <a:b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22E81A-041D-7AF7-48B8-56B4E93C5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640" y="1277095"/>
            <a:ext cx="9552374" cy="4747348"/>
          </a:xfrm>
        </p:spPr>
        <p:txBody>
          <a:bodyPr>
            <a:normAutofit fontScale="85000" lnSpcReduction="20000"/>
          </a:bodyPr>
          <a:lstStyle/>
          <a:p>
            <a:r>
              <a:rPr lang="en-US" sz="2200" b="1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Hat </a:t>
            </a: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An Enterprise Linux Distribution.</a:t>
            </a:r>
            <a:endParaRPr lang="en-US" sz="22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Designed For: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Enterprise Users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Developers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Desktop Professionals</a:t>
            </a:r>
          </a:p>
          <a:p>
            <a:r>
              <a:rPr lang="en-IN" sz="22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Hat Client Versions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Hat Linux 6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Hat Linux 7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Hat Linux 8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 Hat Linux 9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RHEL Workstation 7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RHEL Workstation 8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sz="22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RHEL Workstation 9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302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A0D3E-07A0-00DF-5029-8A09696788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4289" y="1057514"/>
            <a:ext cx="8825658" cy="692628"/>
          </a:xfrm>
        </p:spPr>
        <p:txBody>
          <a:bodyPr/>
          <a:lstStyle/>
          <a:p>
            <a:r>
              <a:rPr lang="en-IN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of RHEL Workstation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2EC7CAC-9910-ADCB-0323-5B53866CD8E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174289" y="2249445"/>
            <a:ext cx="785172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GNOME Desktop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Patches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Selinux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Developer Tools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Long-term Support</a:t>
            </a:r>
          </a:p>
        </p:txBody>
      </p:sp>
    </p:spTree>
    <p:extLst>
      <p:ext uri="{BB962C8B-B14F-4D97-AF65-F5344CB8AC3E}">
        <p14:creationId xmlns:p14="http://schemas.microsoft.com/office/powerpoint/2010/main" val="162064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EFFB1-0FE9-8229-3F62-6B0B99FDC5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7471" y="754899"/>
            <a:ext cx="8825658" cy="670778"/>
          </a:xfrm>
        </p:spPr>
        <p:txBody>
          <a:bodyPr/>
          <a:lstStyle/>
          <a:p>
            <a:r>
              <a:rPr lang="en-IN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OS Versions of Windows</a:t>
            </a:r>
            <a:endParaRPr lang="en-IN" sz="28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06BA4-B182-D616-C72A-3765D6B122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7471" y="1658644"/>
            <a:ext cx="10427445" cy="4601773"/>
          </a:xfrm>
        </p:spPr>
        <p:txBody>
          <a:bodyPr>
            <a:normAutofit/>
          </a:bodyPr>
          <a:lstStyle/>
          <a:p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Is Designed For Enterprise Networking.</a:t>
            </a: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Versions</a:t>
            </a:r>
          </a:p>
          <a:p>
            <a:endParaRPr lang="en-IN" sz="2000" b="1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2003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2008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2012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2016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2019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Windows Server 2022</a:t>
            </a:r>
          </a:p>
          <a:p>
            <a:endParaRPr lang="en-IN" cap="non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35213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7A9CD-9749-C1FF-A741-0450A2D6A8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8477" y="1236680"/>
            <a:ext cx="8825658" cy="552791"/>
          </a:xfrm>
        </p:spPr>
        <p:txBody>
          <a:bodyPr/>
          <a:lstStyle/>
          <a:p>
            <a:r>
              <a:rPr lang="en-IN" sz="28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A28AE6-1F0B-1544-5EEC-5E061B82117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79475" y="2620913"/>
            <a:ext cx="26052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Active Directory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DNS &amp; DHCP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Group Policy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Hyper-V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File Server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IIS Web Server</a:t>
            </a:r>
          </a:p>
        </p:txBody>
      </p:sp>
    </p:spTree>
    <p:extLst>
      <p:ext uri="{BB962C8B-B14F-4D97-AF65-F5344CB8AC3E}">
        <p14:creationId xmlns:p14="http://schemas.microsoft.com/office/powerpoint/2010/main" val="368691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FB413-13DD-11BD-4173-99624C3E6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89483" y="890366"/>
            <a:ext cx="10260297" cy="604137"/>
          </a:xfrm>
        </p:spPr>
        <p:txBody>
          <a:bodyPr/>
          <a:lstStyle/>
          <a:p>
            <a:r>
              <a:rPr lang="en-IN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sz="28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Server and Client OS Versions of Linux ?</a:t>
            </a:r>
            <a:endParaRPr lang="en-IN" sz="28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24AC5-F117-3D61-C2FE-93E386DFF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7639" y="1670387"/>
            <a:ext cx="8825658" cy="3924168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Client OS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Ubuntu Desktop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Fedora Workstation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Mint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Debian Desktop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RHEL Workstation</a:t>
            </a:r>
          </a:p>
          <a:p>
            <a:r>
              <a:rPr lang="en-IN" sz="2000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 For: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Work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041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433AD3-F67E-1A33-D95E-D04E387DD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8141" y="1218103"/>
            <a:ext cx="9916167" cy="4150310"/>
          </a:xfrm>
        </p:spPr>
        <p:txBody>
          <a:bodyPr>
            <a:no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Linux Server OS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RHEL Server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Centos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Debian Server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SUSE Linux Enterprise Server</a:t>
            </a:r>
          </a:p>
          <a:p>
            <a:r>
              <a:rPr lang="en-IN" sz="2000" b="1" cap="none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Used For: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Hosting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Servers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000" cap="none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</a:p>
          <a:p>
            <a:endParaRPr lang="en-IN" sz="2000" cap="none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9751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6991D0-CCBD-5AC4-18C6-ECD2BF8B0B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8" y="1375418"/>
            <a:ext cx="9634768" cy="4545769"/>
          </a:xfrm>
        </p:spPr>
        <p:txBody>
          <a:bodyPr>
            <a:noAutofit/>
          </a:bodyPr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1D932E5-AB71-375C-B7FD-5B0072D14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5908468"/>
              </p:ext>
            </p:extLst>
          </p:nvPr>
        </p:nvGraphicFramePr>
        <p:xfrm>
          <a:off x="993058" y="1375417"/>
          <a:ext cx="9634768" cy="45457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817384">
                  <a:extLst>
                    <a:ext uri="{9D8B030D-6E8A-4147-A177-3AD203B41FA5}">
                      <a16:colId xmlns:a16="http://schemas.microsoft.com/office/drawing/2014/main" val="93223004"/>
                    </a:ext>
                  </a:extLst>
                </a:gridCol>
                <a:gridCol w="4817384">
                  <a:extLst>
                    <a:ext uri="{9D8B030D-6E8A-4147-A177-3AD203B41FA5}">
                      <a16:colId xmlns:a16="http://schemas.microsoft.com/office/drawing/2014/main" val="3165707387"/>
                    </a:ext>
                  </a:extLst>
                </a:gridCol>
              </a:tblGrid>
              <a:tr h="90863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Linux Client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400" dirty="0">
                          <a:effectLst/>
                        </a:rPr>
                        <a:t>Linux Server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95696183"/>
                  </a:ext>
                </a:extLst>
              </a:tr>
              <a:tr h="9092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GUI focused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CLI focused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1819439"/>
                  </a:ext>
                </a:extLst>
              </a:tr>
              <a:tr h="9092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Personal use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>
                          <a:effectLst/>
                        </a:rPr>
                        <a:t>Network services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97863446"/>
                  </a:ext>
                </a:extLst>
              </a:tr>
              <a:tr h="9092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Desktop apps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Web &amp; DB services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01822996"/>
                  </a:ext>
                </a:extLst>
              </a:tr>
              <a:tr h="909285"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>
                          <a:effectLst/>
                        </a:rPr>
                        <a:t>Less resource intensive</a:t>
                      </a:r>
                      <a:endParaRPr lang="en-IN" sz="240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indent="-342900">
                        <a:lnSpc>
                          <a:spcPct val="150000"/>
                        </a:lnSpc>
                        <a:spcAft>
                          <a:spcPts val="1000"/>
                        </a:spcAft>
                        <a:buFont typeface="Wingdings" panose="05000000000000000000" pitchFamily="2" charset="2"/>
                        <a:buChar char="ü"/>
                      </a:pPr>
                      <a:r>
                        <a:rPr lang="en-US" sz="2400" dirty="0">
                          <a:effectLst/>
                        </a:rPr>
                        <a:t>High performance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234759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29324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usinesswoman holding sign smiling">
            <a:extLst>
              <a:ext uri="{FF2B5EF4-FFF2-40B4-BE49-F238E27FC236}">
                <a16:creationId xmlns:a16="http://schemas.microsoft.com/office/drawing/2014/main" id="{F4160E25-EFFB-D29B-7331-69A2E8A4D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65" y="786186"/>
            <a:ext cx="4501899" cy="52856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6B0C901-1EAF-D336-BE36-8A7ADC469403}"/>
              </a:ext>
            </a:extLst>
          </p:cNvPr>
          <p:cNvSpPr txBox="1"/>
          <p:nvPr/>
        </p:nvSpPr>
        <p:spPr>
          <a:xfrm>
            <a:off x="2074606" y="2300748"/>
            <a:ext cx="2408903" cy="525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+mj-lt"/>
              </a:rPr>
              <a:t>THANK YOU</a:t>
            </a:r>
          </a:p>
        </p:txBody>
      </p:sp>
      <p:pic>
        <p:nvPicPr>
          <p:cNvPr id="8" name="Graphic 7" descr="Angel face outline with solid fill">
            <a:extLst>
              <a:ext uri="{FF2B5EF4-FFF2-40B4-BE49-F238E27FC236}">
                <a16:creationId xmlns:a16="http://schemas.microsoft.com/office/drawing/2014/main" id="{549EC3FF-1FD6-57B6-456E-4990580CD4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2787" y="2300748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8714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179</TotalTime>
  <Words>626</Words>
  <Application>Microsoft Office PowerPoint</Application>
  <PresentationFormat>Widescreen</PresentationFormat>
  <Paragraphs>198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Century Gothic</vt:lpstr>
      <vt:lpstr>Times New Roman</vt:lpstr>
      <vt:lpstr>Wingdings</vt:lpstr>
      <vt:lpstr>Wingdings 3</vt:lpstr>
      <vt:lpstr>Ion Boardroom</vt:lpstr>
      <vt:lpstr>Assignment – 2  BASIC COMPUTER FUNDAMENTALS , OS , CLIENT &amp; SERVER SYSTEMS</vt:lpstr>
      <vt:lpstr>Hardware refers to the physical and tangible components of a computer system. Hardware performs operations based on software instructions. </vt:lpstr>
      <vt:lpstr>Software is a set of programs and instructions that control hardware.</vt:lpstr>
      <vt:lpstr>PowerPoint Presentation</vt:lpstr>
      <vt:lpstr>2. What is Operating System (OS) and Its Types ?</vt:lpstr>
      <vt:lpstr>Functions of Operating System </vt:lpstr>
      <vt:lpstr>Types of Operating Systems</vt:lpstr>
      <vt:lpstr>3. Categories of Operating System</vt:lpstr>
      <vt:lpstr>4. What is Client OS and Server OS?</vt:lpstr>
      <vt:lpstr>PowerPoint Presentation</vt:lpstr>
      <vt:lpstr>PowerPoint Presentation</vt:lpstr>
      <vt:lpstr>5. Client OS Versions of Linux (Red Hat System) ? </vt:lpstr>
      <vt:lpstr>Features of RHEL Workstation</vt:lpstr>
      <vt:lpstr>6. Server OS Versions of Windows</vt:lpstr>
      <vt:lpstr>Key Features</vt:lpstr>
      <vt:lpstr>7. Server and Client OS Versions of Linux 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Vidya Bhandinavar</dc:creator>
  <cp:lastModifiedBy>Vidya Bhandinavar</cp:lastModifiedBy>
  <cp:revision>15</cp:revision>
  <dcterms:created xsi:type="dcterms:W3CDTF">2026-02-11T16:45:18Z</dcterms:created>
  <dcterms:modified xsi:type="dcterms:W3CDTF">2026-02-13T06:33:15Z</dcterms:modified>
</cp:coreProperties>
</file>